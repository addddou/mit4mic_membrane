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80" r:id="rId4"/>
    <p:sldId id="281" r:id="rId5"/>
    <p:sldId id="257" r:id="rId6"/>
    <p:sldId id="258" r:id="rId7"/>
    <p:sldId id="259" r:id="rId8"/>
    <p:sldId id="263" r:id="rId9"/>
    <p:sldId id="261" r:id="rId10"/>
    <p:sldId id="282" r:id="rId11"/>
    <p:sldId id="283" r:id="rId12"/>
    <p:sldId id="267" r:id="rId13"/>
    <p:sldId id="271" r:id="rId14"/>
    <p:sldId id="272" r:id="rId15"/>
    <p:sldId id="274" r:id="rId16"/>
    <p:sldId id="276" r:id="rId17"/>
    <p:sldId id="275" r:id="rId18"/>
    <p:sldId id="265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.wmf"/><Relationship Id="rId4" Type="http://schemas.openxmlformats.org/officeDocument/2006/relationships/image" Target="../media/image11.wmf"/><Relationship Id="rId3" Type="http://schemas.openxmlformats.org/officeDocument/2006/relationships/image" Target="../media/image7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6.wmf"/><Relationship Id="rId2" Type="http://schemas.openxmlformats.org/officeDocument/2006/relationships/image" Target="../media/image27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tags" Target="../tags/tag3.xml"/><Relationship Id="rId3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3" Type="http://schemas.openxmlformats.org/officeDocument/2006/relationships/tags" Target="../tags/tag4.xml"/><Relationship Id="rId2" Type="http://schemas.openxmlformats.org/officeDocument/2006/relationships/image" Target="../media/image7.wmf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16.bin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3.bin"/><Relationship Id="rId13" Type="http://schemas.openxmlformats.org/officeDocument/2006/relationships/vmlDrawing" Target="../drawings/vmlDrawing4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6.wmf"/><Relationship Id="rId10" Type="http://schemas.openxmlformats.org/officeDocument/2006/relationships/oleObject" Target="../embeddings/oleObject17.bin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oleObject" Target="../embeddings/oleObject21.bin"/><Relationship Id="rId7" Type="http://schemas.openxmlformats.org/officeDocument/2006/relationships/image" Target="../media/image26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8.bin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0.wmf"/><Relationship Id="rId12" Type="http://schemas.openxmlformats.org/officeDocument/2006/relationships/oleObject" Target="../embeddings/oleObject23.bin"/><Relationship Id="rId11" Type="http://schemas.openxmlformats.org/officeDocument/2006/relationships/image" Target="../media/image29.wmf"/><Relationship Id="rId10" Type="http://schemas.openxmlformats.org/officeDocument/2006/relationships/oleObject" Target="../embeddings/oleObject22.bin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15.w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声学膜片</a:t>
            </a:r>
            <a:r>
              <a:rPr lang="zh-CN" altLang="en-US"/>
              <a:t>阻抗测试系统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21823"/>
            <a:ext cx="9144000" cy="1655762"/>
          </a:xfrm>
        </p:spPr>
        <p:txBody>
          <a:bodyPr/>
          <a:p>
            <a:r>
              <a:rPr lang="en-US" altLang="zh-CN"/>
              <a:t>Theory </a:t>
            </a:r>
            <a:r>
              <a:rPr lang="en-US" altLang="zh-CN"/>
              <a:t>Introduction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814820" y="6155690"/>
            <a:ext cx="4936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技术支持：</a:t>
            </a:r>
            <a:r>
              <a:rPr lang="en-US" altLang="zh-CN"/>
              <a:t> 18362654625</a:t>
            </a:r>
            <a:r>
              <a:rPr lang="zh-CN" altLang="en-US"/>
              <a:t>（</a:t>
            </a:r>
            <a:r>
              <a:rPr lang="zh-CN" altLang="en-US"/>
              <a:t>微信同号）</a:t>
            </a:r>
            <a:r>
              <a:rPr lang="en-US" altLang="zh-CN"/>
              <a:t>   </a:t>
            </a:r>
            <a:r>
              <a:rPr lang="zh-CN" altLang="en-US"/>
              <a:t>王博士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030" y="102235"/>
            <a:ext cx="10401300" cy="3543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3675" y="2915285"/>
            <a:ext cx="11804650" cy="375602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467600" y="476885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10kHz tube, inner diameter 20mm.</a:t>
            </a:r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180" y="3161030"/>
            <a:ext cx="10593705" cy="3684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180" y="149860"/>
            <a:ext cx="10106025" cy="351472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339965" y="367665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10kHz tube, inner diameter 20mm.</a:t>
            </a:r>
            <a:endParaRPr lang="en-US" alt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文本框 46"/>
          <p:cNvSpPr txBox="1"/>
          <p:nvPr/>
        </p:nvSpPr>
        <p:spPr>
          <a:xfrm>
            <a:off x="318135" y="495300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10k Hz tube, inner diameter 20mm.</a:t>
            </a:r>
            <a:endParaRPr lang="en-US" altLang="zh-CN" sz="2000"/>
          </a:p>
        </p:txBody>
      </p:sp>
      <p:grpSp>
        <p:nvGrpSpPr>
          <p:cNvPr id="2" name="组合 1"/>
          <p:cNvGrpSpPr/>
          <p:nvPr/>
        </p:nvGrpSpPr>
        <p:grpSpPr>
          <a:xfrm>
            <a:off x="896620" y="1521460"/>
            <a:ext cx="10368280" cy="4007485"/>
            <a:chOff x="1412" y="2396"/>
            <a:chExt cx="16328" cy="6311"/>
          </a:xfrm>
        </p:grpSpPr>
        <p:sp>
          <p:nvSpPr>
            <p:cNvPr id="4" name="矩形 3"/>
            <p:cNvSpPr/>
            <p:nvPr/>
          </p:nvSpPr>
          <p:spPr>
            <a:xfrm>
              <a:off x="2383" y="4332"/>
              <a:ext cx="514" cy="135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625" y="3582"/>
              <a:ext cx="12464" cy="28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2876" y="3564"/>
              <a:ext cx="749" cy="7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876" y="5685"/>
              <a:ext cx="734" cy="7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1412" y="6612"/>
              <a:ext cx="24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Sound Source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10" name="加号 9"/>
            <p:cNvSpPr/>
            <p:nvPr/>
          </p:nvSpPr>
          <p:spPr>
            <a:xfrm>
              <a:off x="1963" y="4462"/>
              <a:ext cx="283" cy="283"/>
            </a:xfrm>
            <a:prstGeom prst="mathPl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减号 10"/>
            <p:cNvSpPr/>
            <p:nvPr/>
          </p:nvSpPr>
          <p:spPr>
            <a:xfrm>
              <a:off x="1963" y="5241"/>
              <a:ext cx="284" cy="283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64" y="3578"/>
              <a:ext cx="344" cy="2876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519" y="6612"/>
              <a:ext cx="32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Sample </a:t>
              </a:r>
              <a:r>
                <a:rPr lang="en-US" altLang="zh-CN" b="1">
                  <a:solidFill>
                    <a:srgbClr val="FF0000"/>
                  </a:solidFill>
                </a:rPr>
                <a:t>under Test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5785" y="3110"/>
              <a:ext cx="566" cy="454"/>
              <a:chOff x="7820" y="8035"/>
              <a:chExt cx="566" cy="454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rot="0">
              <a:off x="9008" y="3110"/>
              <a:ext cx="566" cy="454"/>
              <a:chOff x="7820" y="8035"/>
              <a:chExt cx="566" cy="45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 rot="0">
              <a:off x="10302" y="3124"/>
              <a:ext cx="566" cy="454"/>
              <a:chOff x="7820" y="8035"/>
              <a:chExt cx="566" cy="454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rot="0">
              <a:off x="11402" y="3128"/>
              <a:ext cx="566" cy="454"/>
              <a:chOff x="7820" y="8035"/>
              <a:chExt cx="566" cy="45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 rot="0">
              <a:off x="16047" y="4782"/>
              <a:ext cx="566" cy="454"/>
              <a:chOff x="7820" y="8035"/>
              <a:chExt cx="566" cy="454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10016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3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723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2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499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1</a:t>
              </a:r>
              <a:endParaRPr lang="en-US" altLang="zh-CN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1117" y="2396"/>
              <a:ext cx="375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5(Phantom Mic)</a:t>
              </a:r>
              <a:endParaRPr lang="en-US" altLang="zh-CN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6602" y="4718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4</a:t>
              </a:r>
              <a:endParaRPr lang="en-US" altLang="zh-CN"/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3345" y="7982"/>
              <a:ext cx="13606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5483" y="7974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1</a:t>
              </a:r>
              <a:endParaRPr lang="en-US" altLang="zh-CN" sz="2400" i="1" baseline="-250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321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2</a:t>
              </a:r>
              <a:endParaRPr lang="en-US" altLang="zh-CN" sz="2400" i="1" baseline="-250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810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3</a:t>
              </a:r>
              <a:endParaRPr lang="en-US" altLang="zh-CN" sz="2400" i="1" baseline="-2500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651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0</a:t>
              </a:r>
              <a:endParaRPr lang="en-US" altLang="zh-CN" sz="2400" i="1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5448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L</a:t>
              </a:r>
              <a:endParaRPr lang="en-US" altLang="zh-CN" sz="2400" i="1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1159" y="7974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0</a:t>
              </a:r>
              <a:r>
                <a:rPr lang="en-US" altLang="zh-CN" sz="2400" i="1" baseline="-25000"/>
                <a:t>+</a:t>
              </a:r>
              <a:endParaRPr lang="en-US" altLang="zh-CN" sz="2400" i="1" baseline="-2500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620" y="4530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r>
                <a:rPr lang="en-US" altLang="zh-CN" sz="2400" i="1" baseline="-25000"/>
                <a:t>s</a:t>
              </a:r>
              <a:endParaRPr lang="zh-CN" altLang="en-US" sz="2400" i="1" baseline="-250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0328" y="4558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endParaRPr lang="en-US" altLang="zh-CN" sz="2400" i="1" baseline="-2500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345" y="7974"/>
              <a:ext cx="7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-L</a:t>
              </a:r>
              <a:r>
                <a:rPr lang="en-US" altLang="zh-CN" sz="2400" i="1" baseline="-25000"/>
                <a:t>s</a:t>
              </a:r>
              <a:endParaRPr lang="en-US" altLang="zh-CN" sz="2400" i="1" baseline="-250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077" y="6612"/>
              <a:ext cx="189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Rigid Wall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5992" y="3587"/>
              <a:ext cx="119" cy="2856"/>
            </a:xfrm>
            <a:prstGeom prst="rect">
              <a:avLst/>
            </a:prstGeom>
            <a:pattFill prst="openDmnd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867025" y="2538095"/>
            <a:ext cx="3537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00FF00"/>
                </a:highlight>
              </a:rPr>
              <a:t>将</a:t>
            </a:r>
            <a:r>
              <a:rPr lang="en-US" altLang="zh-CN">
                <a:highlight>
                  <a:srgbClr val="00FF00"/>
                </a:highlight>
              </a:rPr>
              <a:t>rs</a:t>
            </a:r>
            <a:r>
              <a:rPr lang="zh-CN" altLang="en-US">
                <a:highlight>
                  <a:srgbClr val="00FF00"/>
                </a:highlight>
              </a:rPr>
              <a:t>反射波</a:t>
            </a:r>
            <a:r>
              <a:rPr lang="en-US" altLang="zh-CN">
                <a:highlight>
                  <a:srgbClr val="00FF00"/>
                </a:highlight>
              </a:rPr>
              <a:t>,</a:t>
            </a:r>
            <a:r>
              <a:rPr lang="zh-CN" altLang="en-US">
                <a:highlight>
                  <a:srgbClr val="00FF00"/>
                </a:highlight>
              </a:rPr>
              <a:t>与第一次入射波叠加，计算</a:t>
            </a:r>
            <a:r>
              <a:rPr lang="en-US" altLang="zh-CN">
                <a:highlight>
                  <a:srgbClr val="00FF00"/>
                </a:highlight>
              </a:rPr>
              <a:t>r</a:t>
            </a:r>
            <a:endParaRPr lang="en-US" altLang="zh-CN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88290" y="34251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Distance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Frequency Range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80mm(x1-x3)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214Hz - 1929Hz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15mm(x2-x3)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1143Hz - 10290Hz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288290" y="469455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10Hz - 220Hz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3; Mic 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221Hz - 1500Hz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1501Hz - 10kHz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88290" y="758825"/>
            <a:ext cx="2127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Microphone Layout: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335" y="916305"/>
            <a:ext cx="5544820" cy="236791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4"/>
            </p:custDataLst>
          </p:nvPr>
        </p:nvGraphicFramePr>
        <p:xfrm>
          <a:off x="288290" y="1774825"/>
          <a:ext cx="618617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085"/>
                <a:gridCol w="30930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coordinate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value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1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87mm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2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22mm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3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7mm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153525" y="4694555"/>
            <a:ext cx="24860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00FF00"/>
                </a:highlight>
              </a:rPr>
              <a:t>低频</a:t>
            </a:r>
            <a:r>
              <a:rPr lang="en-US" altLang="zh-CN">
                <a:highlight>
                  <a:srgbClr val="00FF00"/>
                </a:highlight>
              </a:rPr>
              <a:t>P0- = P3</a:t>
            </a:r>
            <a:br>
              <a:rPr lang="en-US" altLang="zh-CN">
                <a:highlight>
                  <a:srgbClr val="00FF00"/>
                </a:highlight>
              </a:rPr>
            </a:br>
            <a:br>
              <a:rPr lang="en-US" altLang="zh-CN">
                <a:highlight>
                  <a:srgbClr val="00FF00"/>
                </a:highlight>
              </a:rPr>
            </a:br>
            <a:r>
              <a:rPr lang="zh-CN" altLang="en-US">
                <a:highlight>
                  <a:srgbClr val="00FF00"/>
                </a:highlight>
              </a:rPr>
              <a:t>中高频通过</a:t>
            </a:r>
            <a:r>
              <a:rPr lang="en-US" altLang="zh-CN">
                <a:highlight>
                  <a:srgbClr val="00FF00"/>
                </a:highlight>
              </a:rPr>
              <a:t>P3</a:t>
            </a:r>
            <a:r>
              <a:rPr lang="zh-CN" altLang="en-US">
                <a:highlight>
                  <a:srgbClr val="00FF00"/>
                </a:highlight>
              </a:rPr>
              <a:t>，</a:t>
            </a:r>
            <a:r>
              <a:rPr lang="en-US" altLang="zh-CN">
                <a:highlight>
                  <a:srgbClr val="00FF00"/>
                </a:highlight>
              </a:rPr>
              <a:t>P1</a:t>
            </a:r>
            <a:r>
              <a:rPr lang="zh-CN" altLang="en-US">
                <a:highlight>
                  <a:srgbClr val="00FF00"/>
                </a:highlight>
              </a:rPr>
              <a:t>计算</a:t>
            </a:r>
            <a:r>
              <a:rPr lang="en-US" altLang="zh-CN">
                <a:highlight>
                  <a:srgbClr val="00FF00"/>
                </a:highlight>
              </a:rPr>
              <a:t>r</a:t>
            </a:r>
            <a:r>
              <a:rPr lang="zh-CN" altLang="en-US">
                <a:highlight>
                  <a:srgbClr val="00FF00"/>
                </a:highlight>
              </a:rPr>
              <a:t>，再计算</a:t>
            </a:r>
            <a:r>
              <a:rPr lang="en-US" altLang="zh-CN">
                <a:highlight>
                  <a:srgbClr val="00FF00"/>
                </a:highlight>
              </a:rPr>
              <a:t>P0-</a:t>
            </a:r>
            <a:endParaRPr lang="en-US" altLang="zh-CN">
              <a:highlight>
                <a:srgbClr val="00FF00"/>
              </a:highligh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" y="231140"/>
            <a:ext cx="54356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60080" y="3144520"/>
          <a:ext cx="14033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533400" imgH="241300" progId="Equation.KSEE3">
                  <p:embed/>
                </p:oleObj>
              </mc:Choice>
              <mc:Fallback>
                <p:oleObj name="" r:id="rId1" imgW="5334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60080" y="3144520"/>
                        <a:ext cx="140335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1839595" y="706120"/>
          <a:ext cx="6938010" cy="153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65"/>
                <a:gridCol w="2316480"/>
                <a:gridCol w="25901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Low-frequency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10Hz - 220Hz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3; Mic 4</a:t>
                      </a:r>
                      <a:endParaRPr lang="en-US" altLang="zh-CN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Mid-range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221Hz - 1500Hz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High-frequency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1501Hz - 10kHz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65580" y="2995930"/>
          <a:ext cx="4402455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4" imgW="2159000" imgH="457200" progId="Equation.KSEE3">
                  <p:embed/>
                </p:oleObj>
              </mc:Choice>
              <mc:Fallback>
                <p:oleObj name="" r:id="rId4" imgW="21590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5580" y="2995930"/>
                        <a:ext cx="4402455" cy="93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65580" y="4029075"/>
          <a:ext cx="3235325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6" imgW="1524000" imgH="431800" progId="Equation.KSEE3">
                  <p:embed/>
                </p:oleObj>
              </mc:Choice>
              <mc:Fallback>
                <p:oleObj name="" r:id="rId6" imgW="15240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65580" y="4029075"/>
                        <a:ext cx="3235325" cy="91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65263" y="4946015"/>
          <a:ext cx="4098290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8" imgW="1930400" imgH="431800" progId="Equation.KSEE3">
                  <p:embed/>
                </p:oleObj>
              </mc:Choice>
              <mc:Fallback>
                <p:oleObj name="" r:id="rId8" imgW="19304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65263" y="4946015"/>
                        <a:ext cx="4098290" cy="91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450455" y="4223068"/>
          <a:ext cx="3424555" cy="83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0" imgW="1612900" imgH="393700" progId="Equation.KSEE3">
                  <p:embed/>
                </p:oleObj>
              </mc:Choice>
              <mc:Fallback>
                <p:oleObj name="" r:id="rId10" imgW="1612900" imgH="393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50455" y="4223068"/>
                        <a:ext cx="3424555" cy="836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137525" y="3758565"/>
            <a:ext cx="1744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Low - frequency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7780655" y="5156200"/>
            <a:ext cx="3315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Mid-range &amp; high - frequency</a:t>
            </a:r>
            <a:endParaRPr lang="en-US" altLang="zh-CN"/>
          </a:p>
        </p:txBody>
      </p:sp>
      <p:sp>
        <p:nvSpPr>
          <p:cNvPr id="15" name="右箭头 14"/>
          <p:cNvSpPr/>
          <p:nvPr/>
        </p:nvSpPr>
        <p:spPr>
          <a:xfrm>
            <a:off x="6191250" y="4358005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65580" y="2526665"/>
            <a:ext cx="3752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00FF00"/>
                </a:highlight>
              </a:rPr>
              <a:t>A</a:t>
            </a:r>
            <a:r>
              <a:rPr lang="zh-CN" altLang="en-US">
                <a:highlight>
                  <a:srgbClr val="00FF00"/>
                </a:highlight>
              </a:rPr>
              <a:t>为左管</a:t>
            </a:r>
            <a:r>
              <a:rPr lang="en-US" altLang="zh-CN">
                <a:highlight>
                  <a:srgbClr val="00FF00"/>
                </a:highlight>
              </a:rPr>
              <a:t>Pia</a:t>
            </a:r>
            <a:endParaRPr lang="en-US" altLang="zh-CN">
              <a:highlight>
                <a:srgbClr val="00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76375" y="5957570"/>
            <a:ext cx="4095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00FF00"/>
                </a:highlight>
              </a:rPr>
              <a:t>计算</a:t>
            </a:r>
            <a:r>
              <a:rPr lang="en-US" altLang="zh-CN">
                <a:highlight>
                  <a:srgbClr val="00FF00"/>
                </a:highlight>
              </a:rPr>
              <a:t>p0</a:t>
            </a:r>
            <a:r>
              <a:rPr lang="zh-CN" altLang="en-US">
                <a:highlight>
                  <a:srgbClr val="00FF00"/>
                </a:highlight>
              </a:rPr>
              <a:t>和</a:t>
            </a:r>
            <a:r>
              <a:rPr lang="en-US" altLang="zh-CN">
                <a:highlight>
                  <a:srgbClr val="00FF00"/>
                </a:highlight>
              </a:rPr>
              <a:t>p3</a:t>
            </a:r>
            <a:r>
              <a:rPr lang="zh-CN" altLang="en-US">
                <a:highlight>
                  <a:srgbClr val="00FF00"/>
                </a:highlight>
              </a:rPr>
              <a:t>时，都已经计算了</a:t>
            </a:r>
            <a:r>
              <a:rPr lang="en-US" altLang="zh-CN">
                <a:highlight>
                  <a:srgbClr val="00FF00"/>
                </a:highlight>
              </a:rPr>
              <a:t>rs</a:t>
            </a:r>
            <a:r>
              <a:rPr lang="zh-CN" altLang="en-US">
                <a:highlight>
                  <a:srgbClr val="00FF00"/>
                </a:highlight>
              </a:rPr>
              <a:t>的反射，相除</a:t>
            </a:r>
            <a:r>
              <a:rPr lang="en-US" altLang="zh-CN">
                <a:highlight>
                  <a:srgbClr val="00FF00"/>
                </a:highlight>
              </a:rPr>
              <a:t>rs</a:t>
            </a:r>
            <a:r>
              <a:rPr lang="zh-CN" altLang="en-US">
                <a:highlight>
                  <a:srgbClr val="00FF00"/>
                </a:highlight>
              </a:rPr>
              <a:t>被约掉了</a:t>
            </a:r>
            <a:endParaRPr lang="zh-CN" altLang="en-US">
              <a:highlight>
                <a:srgbClr val="00FF0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86700" y="5681345"/>
            <a:ext cx="3400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00FF00"/>
                </a:highlight>
              </a:rPr>
              <a:t>中频</a:t>
            </a:r>
            <a:r>
              <a:rPr lang="en-US" altLang="zh-CN">
                <a:highlight>
                  <a:srgbClr val="00FF00"/>
                </a:highlight>
              </a:rPr>
              <a:t> </a:t>
            </a:r>
            <a:r>
              <a:rPr lang="zh-CN" altLang="en-US">
                <a:highlight>
                  <a:srgbClr val="00FF00"/>
                </a:highlight>
              </a:rPr>
              <a:t>高频</a:t>
            </a:r>
            <a:r>
              <a:rPr lang="en-US" altLang="zh-CN">
                <a:highlight>
                  <a:srgbClr val="00FF00"/>
                </a:highlight>
              </a:rPr>
              <a:t>  </a:t>
            </a:r>
            <a:r>
              <a:rPr lang="zh-CN" altLang="en-US">
                <a:highlight>
                  <a:srgbClr val="00FF00"/>
                </a:highlight>
              </a:rPr>
              <a:t>计算</a:t>
            </a:r>
            <a:r>
              <a:rPr lang="en-US" altLang="zh-CN">
                <a:highlight>
                  <a:srgbClr val="00FF00"/>
                </a:highlight>
              </a:rPr>
              <a:t> r</a:t>
            </a:r>
            <a:r>
              <a:rPr lang="zh-CN" altLang="en-US">
                <a:highlight>
                  <a:srgbClr val="00FF00"/>
                </a:highlight>
              </a:rPr>
              <a:t>，用到的麦克风</a:t>
            </a:r>
            <a:r>
              <a:rPr lang="zh-CN" altLang="en-US">
                <a:highlight>
                  <a:srgbClr val="00FF00"/>
                </a:highlight>
              </a:rPr>
              <a:t>不一样</a:t>
            </a:r>
            <a:endParaRPr lang="zh-CN" altLang="en-US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6831965" y="2127250"/>
            <a:ext cx="3315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Mid-range:</a:t>
            </a:r>
            <a:endParaRPr lang="en-US" altLang="zh-CN" sz="2000"/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10830" y="2580640"/>
          <a:ext cx="259588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155700" imgH="508000" progId="Equation.KSEE3">
                  <p:embed/>
                </p:oleObj>
              </mc:Choice>
              <mc:Fallback>
                <p:oleObj name="" r:id="rId1" imgW="1155700" imgH="508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10830" y="2580640"/>
                        <a:ext cx="2595880" cy="114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31965" y="4127500"/>
            <a:ext cx="192405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000">
                <a:sym typeface="+mn-ea"/>
              </a:rPr>
              <a:t>high - frequency:</a:t>
            </a:r>
            <a:endParaRPr lang="en-US" altLang="zh-CN" sz="2000"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10513" y="5084445"/>
          <a:ext cx="2681605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193800" imgH="508000" progId="Equation.KSEE3">
                  <p:embed/>
                </p:oleObj>
              </mc:Choice>
              <mc:Fallback>
                <p:oleObj name="" r:id="rId3" imgW="1193800" imgH="508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10513" y="5084445"/>
                        <a:ext cx="2681605" cy="114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2031365" y="408940"/>
          <a:ext cx="6938010" cy="153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65"/>
                <a:gridCol w="2316480"/>
                <a:gridCol w="25901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Low-frequency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10Hz - 220Hz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3; Mic 4</a:t>
                      </a:r>
                      <a:endParaRPr lang="en-US" altLang="zh-CN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Mid-range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221Hz - 1500Hz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High-frequency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1501Hz - 10kHz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632200" y="3486150"/>
            <a:ext cx="10928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i="1"/>
              <a:t>r</a:t>
            </a:r>
            <a:endParaRPr lang="en-US" altLang="zh-CN" sz="4800" i="1"/>
          </a:p>
        </p:txBody>
      </p:sp>
      <p:sp>
        <p:nvSpPr>
          <p:cNvPr id="8" name="矩形 7"/>
          <p:cNvSpPr/>
          <p:nvPr/>
        </p:nvSpPr>
        <p:spPr>
          <a:xfrm>
            <a:off x="3401695" y="3313430"/>
            <a:ext cx="1610360" cy="1265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9500000">
            <a:off x="5664200" y="3280410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 rot="1320000">
            <a:off x="5730875" y="4030345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10983" y="1135063"/>
          <a:ext cx="2926080" cy="153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016000" imgH="533400" progId="Equation.KSEE3">
                  <p:embed/>
                </p:oleObj>
              </mc:Choice>
              <mc:Fallback>
                <p:oleObj name="" r:id="rId1" imgW="1016000" imgH="533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0983" y="1135063"/>
                        <a:ext cx="2926080" cy="1536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9595" y="245554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3" imgW="914400" imgH="215900" progId="Equation.KSEE3">
                  <p:embed/>
                </p:oleObj>
              </mc:Choice>
              <mc:Fallback>
                <p:oleObj name="" r:id="rId3" imgW="9144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9595" y="245554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87360" y="767715"/>
          <a:ext cx="14033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533400" imgH="241300" progId="Equation.KSEE3">
                  <p:embed/>
                </p:oleObj>
              </mc:Choice>
              <mc:Fallback>
                <p:oleObj name="" r:id="rId5" imgW="5334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87360" y="767715"/>
                        <a:ext cx="140335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77735" y="1846263"/>
          <a:ext cx="3424555" cy="83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1612900" imgH="393700" progId="Equation.KSEE3">
                  <p:embed/>
                </p:oleObj>
              </mc:Choice>
              <mc:Fallback>
                <p:oleObj name="" r:id="rId7" imgW="1612900" imgH="393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7735" y="1846263"/>
                        <a:ext cx="3424555" cy="836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964805" y="1381760"/>
            <a:ext cx="2098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Low - frequency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7607935" y="2779395"/>
            <a:ext cx="3315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Mid-range &amp; high - frequency</a:t>
            </a:r>
            <a:endParaRPr lang="en-US" altLang="zh-CN" sz="2000"/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37380" y="4107815"/>
          <a:ext cx="2598420" cy="143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9" imgW="876300" imgH="482600" progId="Equation.KSEE3">
                  <p:embed/>
                </p:oleObj>
              </mc:Choice>
              <mc:Fallback>
                <p:oleObj name="" r:id="rId9" imgW="876300" imgH="482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37380" y="4107815"/>
                        <a:ext cx="2598420" cy="143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371340" y="4130040"/>
            <a:ext cx="2731135" cy="14090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 rot="2520000">
            <a:off x="3593465" y="2974340"/>
            <a:ext cx="737870" cy="402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7560000">
            <a:off x="6529070" y="2948940"/>
            <a:ext cx="737870" cy="402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280" y="457200"/>
            <a:ext cx="11087735" cy="2656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05" y="3464560"/>
            <a:ext cx="11906250" cy="286702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467600" y="476885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20kHz tube, inner diameter 10mm.</a:t>
            </a:r>
            <a:endParaRPr lang="en-US" altLang="zh-CN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640" y="3314700"/>
            <a:ext cx="11934825" cy="33077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BFBFC">
                  <a:alpha val="100000"/>
                </a:srgbClr>
              </a:clrFrom>
              <a:clrTo>
                <a:srgbClr val="FB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640" y="280035"/>
            <a:ext cx="11856720" cy="322707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467600" y="476885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20kHz tube, inner diameter 10mm.</a:t>
            </a:r>
            <a:endParaRPr lang="en-US" altLang="zh-C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文本框 46"/>
          <p:cNvSpPr txBox="1"/>
          <p:nvPr/>
        </p:nvSpPr>
        <p:spPr>
          <a:xfrm>
            <a:off x="318135" y="495300"/>
            <a:ext cx="437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20kHz tube, inner diameter 10mm.</a:t>
            </a:r>
            <a:endParaRPr lang="en-US" altLang="zh-CN" sz="2000"/>
          </a:p>
        </p:txBody>
      </p:sp>
      <p:grpSp>
        <p:nvGrpSpPr>
          <p:cNvPr id="27" name="组合 26"/>
          <p:cNvGrpSpPr/>
          <p:nvPr/>
        </p:nvGrpSpPr>
        <p:grpSpPr>
          <a:xfrm>
            <a:off x="409575" y="1521460"/>
            <a:ext cx="11320780" cy="4006850"/>
            <a:chOff x="645" y="2396"/>
            <a:chExt cx="17828" cy="6310"/>
          </a:xfrm>
        </p:grpSpPr>
        <p:sp>
          <p:nvSpPr>
            <p:cNvPr id="4" name="矩形 3"/>
            <p:cNvSpPr/>
            <p:nvPr/>
          </p:nvSpPr>
          <p:spPr>
            <a:xfrm>
              <a:off x="1616" y="4332"/>
              <a:ext cx="514" cy="135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58" y="3582"/>
              <a:ext cx="14154" cy="28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2109" y="3564"/>
              <a:ext cx="749" cy="7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109" y="5685"/>
              <a:ext cx="734" cy="7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645" y="6612"/>
              <a:ext cx="24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Sound Source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10" name="加号 9"/>
            <p:cNvSpPr/>
            <p:nvPr/>
          </p:nvSpPr>
          <p:spPr>
            <a:xfrm>
              <a:off x="1196" y="4462"/>
              <a:ext cx="283" cy="283"/>
            </a:xfrm>
            <a:prstGeom prst="mathPl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减号 10"/>
            <p:cNvSpPr/>
            <p:nvPr/>
          </p:nvSpPr>
          <p:spPr>
            <a:xfrm>
              <a:off x="1196" y="5241"/>
              <a:ext cx="284" cy="283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197" y="3578"/>
              <a:ext cx="344" cy="2876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52" y="6612"/>
              <a:ext cx="32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Sample </a:t>
              </a:r>
              <a:r>
                <a:rPr lang="en-US" altLang="zh-CN" b="1">
                  <a:solidFill>
                    <a:srgbClr val="FF0000"/>
                  </a:solidFill>
                </a:rPr>
                <a:t>under Test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5018" y="3110"/>
              <a:ext cx="566" cy="454"/>
              <a:chOff x="7820" y="8035"/>
              <a:chExt cx="566" cy="454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rot="0">
              <a:off x="8241" y="3110"/>
              <a:ext cx="566" cy="454"/>
              <a:chOff x="7820" y="8035"/>
              <a:chExt cx="566" cy="45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 rot="0">
              <a:off x="9535" y="3124"/>
              <a:ext cx="566" cy="454"/>
              <a:chOff x="7820" y="8035"/>
              <a:chExt cx="566" cy="454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rot="0">
              <a:off x="10635" y="3128"/>
              <a:ext cx="566" cy="454"/>
              <a:chOff x="7820" y="8035"/>
              <a:chExt cx="566" cy="45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877" y="8035"/>
                <a:ext cx="454" cy="45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 flipV="1">
                <a:off x="7820" y="8035"/>
                <a:ext cx="56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9249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3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956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2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732" y="2396"/>
              <a:ext cx="11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1</a:t>
              </a:r>
              <a:endParaRPr lang="en-US" altLang="zh-CN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350" y="2396"/>
              <a:ext cx="119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Mic 4</a:t>
              </a:r>
              <a:endParaRPr lang="en-US" altLang="zh-CN"/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2578" y="7982"/>
              <a:ext cx="15307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4716" y="7974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1</a:t>
              </a:r>
              <a:endParaRPr lang="en-US" altLang="zh-CN" sz="2400" i="1" baseline="-250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554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2</a:t>
              </a:r>
              <a:endParaRPr lang="en-US" altLang="zh-CN" sz="2400" i="1" baseline="-250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043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-x</a:t>
              </a:r>
              <a:r>
                <a:rPr lang="en-US" altLang="zh-CN" sz="2400" i="1" baseline="-25000"/>
                <a:t>3</a:t>
              </a:r>
              <a:endParaRPr lang="en-US" altLang="zh-CN" sz="2400" i="1" baseline="-2500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884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0</a:t>
              </a:r>
              <a:endParaRPr lang="en-US" altLang="zh-CN" sz="2400" i="1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6579" y="7982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L</a:t>
              </a:r>
              <a:r>
                <a:rPr lang="en-US" altLang="zh-CN" sz="2400" i="1" baseline="-25000"/>
                <a:t>s</a:t>
              </a:r>
              <a:endParaRPr lang="en-US" altLang="zh-CN" sz="2400" i="1" baseline="-250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737" y="7974"/>
              <a:ext cx="11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i="1"/>
                <a:t>x</a:t>
              </a:r>
              <a:r>
                <a:rPr lang="en-US" altLang="zh-CN" sz="2400" i="1" baseline="-25000"/>
                <a:t>3</a:t>
              </a:r>
              <a:endParaRPr lang="en-US" altLang="zh-CN" sz="2400" i="1" baseline="-2500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853" y="4530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r>
                <a:rPr lang="en-US" altLang="zh-CN" sz="2400" i="1" baseline="-25000"/>
                <a:t>s</a:t>
              </a:r>
              <a:endParaRPr lang="en-US" altLang="zh-CN" sz="2400" i="1" baseline="-250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9535" y="4505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r>
                <a:rPr lang="en-US" altLang="zh-CN" sz="2400" i="1" baseline="-25000"/>
                <a:t>1</a:t>
              </a:r>
              <a:endParaRPr lang="en-US" altLang="zh-CN" sz="2400" i="1" baseline="-2500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578" y="7974"/>
              <a:ext cx="7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-L</a:t>
              </a:r>
              <a:r>
                <a:rPr lang="en-US" altLang="zh-CN" sz="2400" i="1" baseline="-25000"/>
                <a:t>s</a:t>
              </a:r>
              <a:endParaRPr lang="en-US" altLang="zh-CN" sz="2400" i="1" baseline="-250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143" y="6612"/>
              <a:ext cx="33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</a:rPr>
                <a:t>Absorption terminal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6935" y="3564"/>
              <a:ext cx="798" cy="2891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0559" y="4539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r>
                <a:rPr lang="en-US" altLang="zh-CN" sz="2400" i="1" baseline="-25000"/>
                <a:t>2</a:t>
              </a:r>
              <a:endParaRPr lang="en-US" altLang="zh-CN" sz="2400" i="1" baseline="-2500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336" y="4550"/>
              <a:ext cx="64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i="1"/>
                <a:t>r</a:t>
              </a:r>
              <a:r>
                <a:rPr lang="en-US" altLang="zh-CN" sz="2400" i="1" baseline="-25000"/>
                <a:t>3</a:t>
              </a:r>
              <a:endParaRPr lang="en-US" altLang="zh-CN" sz="2400" i="1" baseline="-250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233" y="4647"/>
              <a:ext cx="256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 i="1"/>
                <a:t>Input Tube</a:t>
              </a:r>
              <a:endParaRPr lang="en-US" altLang="zh-CN" sz="2000" i="1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1808" y="4647"/>
              <a:ext cx="386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 i="1"/>
                <a:t>Transmission Tube</a:t>
              </a:r>
              <a:endParaRPr lang="en-US" altLang="zh-CN" sz="2000" i="1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88290" y="34251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Distance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Frequency Range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50mm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343Hz - 3087Hz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7.5mm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2286Hz - 20580Hz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288290" y="469455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500Hz - 2500Hz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2501Hz - 20kHz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88290" y="758825"/>
            <a:ext cx="2127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Microphone Layout: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288290" y="1774825"/>
          <a:ext cx="618617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085"/>
                <a:gridCol w="30930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coordinate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value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1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57mm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2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14.5mm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3</a:t>
                      </a:r>
                      <a:endParaRPr lang="en-US" altLang="zh-CN" baseline="-25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7mm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555" y="478155"/>
            <a:ext cx="5266055" cy="2395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79805" y="396875"/>
          <a:ext cx="6938010" cy="153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65"/>
                <a:gridCol w="2316480"/>
                <a:gridCol w="25901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Mid-range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500Hz - 2500Hz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High-frequency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2501Hz - 20kHz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66788" y="1878965"/>
          <a:ext cx="4428490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2171700" imgH="457200" progId="Equation.KSEE3">
                  <p:embed/>
                </p:oleObj>
              </mc:Choice>
              <mc:Fallback>
                <p:oleObj name="" r:id="rId2" imgW="21717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6788" y="1878965"/>
                        <a:ext cx="4428490" cy="93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5830" y="3839845"/>
          <a:ext cx="3343275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4" imgW="1574800" imgH="431800" progId="Equation.KSEE3">
                  <p:embed/>
                </p:oleObj>
              </mc:Choice>
              <mc:Fallback>
                <p:oleObj name="" r:id="rId4" imgW="15748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5830" y="3839845"/>
                        <a:ext cx="3343275" cy="91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8848" y="4756785"/>
          <a:ext cx="4179570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1968500" imgH="431800" progId="Equation.KSEE3">
                  <p:embed/>
                </p:oleObj>
              </mc:Choice>
              <mc:Fallback>
                <p:oleObj name="" r:id="rId6" imgW="19685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8848" y="4756785"/>
                        <a:ext cx="4179570" cy="91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91450" y="3839528"/>
          <a:ext cx="353250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8" imgW="1663700" imgH="431800" progId="Equation.KSEE3">
                  <p:embed/>
                </p:oleObj>
              </mc:Choice>
              <mc:Fallback>
                <p:oleObj name="" r:id="rId8" imgW="16637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91450" y="3839528"/>
                        <a:ext cx="353250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175625" y="4813300"/>
            <a:ext cx="3315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Mid-range &amp; high - frequency</a:t>
            </a:r>
            <a:endParaRPr lang="en-US" altLang="zh-CN"/>
          </a:p>
        </p:txBody>
      </p:sp>
      <p:sp>
        <p:nvSpPr>
          <p:cNvPr id="15" name="右箭头 14"/>
          <p:cNvSpPr/>
          <p:nvPr/>
        </p:nvSpPr>
        <p:spPr>
          <a:xfrm>
            <a:off x="6569710" y="4283075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3453" y="2810828"/>
          <a:ext cx="5205730" cy="93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0" imgW="2552700" imgH="457200" progId="Equation.KSEE3">
                  <p:embed/>
                </p:oleObj>
              </mc:Choice>
              <mc:Fallback>
                <p:oleObj name="" r:id="rId10" imgW="25527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3453" y="2810828"/>
                        <a:ext cx="5205730" cy="932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917815" y="3244850"/>
            <a:ext cx="2397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0070C0"/>
                </a:solidFill>
              </a:rPr>
              <a:t>Input Tube</a:t>
            </a:r>
            <a:endParaRPr lang="en-US" altLang="zh-CN" sz="2400" b="1" i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14095" y="663575"/>
          <a:ext cx="6938010" cy="153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65"/>
                <a:gridCol w="2316480"/>
                <a:gridCol w="25901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Mid-range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500Hz - 2500Hz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High-frequency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2501Hz - 20kHz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2603" y="2058670"/>
          <a:ext cx="4428490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2171700" imgH="457200" progId="Equation.KSEE3">
                  <p:embed/>
                </p:oleObj>
              </mc:Choice>
              <mc:Fallback>
                <p:oleObj name="" r:id="rId2" imgW="21717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2603" y="2058670"/>
                        <a:ext cx="4428490" cy="93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2920" y="4010343"/>
          <a:ext cx="423354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993900" imgH="457200" progId="Equation.KSEE3">
                  <p:embed/>
                </p:oleObj>
              </mc:Choice>
              <mc:Fallback>
                <p:oleObj name="" r:id="rId4" imgW="1993900" imgH="457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2920" y="4010343"/>
                        <a:ext cx="4233545" cy="97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670800" y="5674360"/>
            <a:ext cx="3315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Mid-range &amp; high - frequency</a:t>
            </a:r>
            <a:endParaRPr lang="en-US" altLang="zh-CN"/>
          </a:p>
        </p:txBody>
      </p:sp>
      <p:sp>
        <p:nvSpPr>
          <p:cNvPr id="15" name="右箭头 14"/>
          <p:cNvSpPr/>
          <p:nvPr/>
        </p:nvSpPr>
        <p:spPr>
          <a:xfrm>
            <a:off x="6009640" y="4347845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9268" y="2990533"/>
          <a:ext cx="5205730" cy="93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2552700" imgH="457200" progId="Equation.KSEE3">
                  <p:embed/>
                </p:oleObj>
              </mc:Choice>
              <mc:Fallback>
                <p:oleObj name="" r:id="rId6" imgW="25527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9268" y="2990533"/>
                        <a:ext cx="5205730" cy="932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23380" y="2918460"/>
            <a:ext cx="2939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0070C0"/>
                </a:solidFill>
              </a:rPr>
              <a:t>Transmission Tube</a:t>
            </a:r>
            <a:endParaRPr lang="en-US" altLang="zh-CN" sz="2400" b="1" i="1">
              <a:solidFill>
                <a:srgbClr val="0070C0"/>
              </a:solidFill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2920" y="4873308"/>
          <a:ext cx="504126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8" imgW="2374265" imgH="457200" progId="Equation.KSEE3">
                  <p:embed/>
                </p:oleObj>
              </mc:Choice>
              <mc:Fallback>
                <p:oleObj name="" r:id="rId8" imgW="2374265" imgH="457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2920" y="4873308"/>
                        <a:ext cx="5041265" cy="97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23063" y="3586798"/>
          <a:ext cx="4395470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0" imgW="2070100" imgH="457200" progId="Equation.KSEE3">
                  <p:embed/>
                </p:oleObj>
              </mc:Choice>
              <mc:Fallback>
                <p:oleObj name="" r:id="rId10" imgW="2070100" imgH="457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23063" y="3586798"/>
                        <a:ext cx="4395470" cy="97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23381" y="4488498"/>
          <a:ext cx="533971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2" imgW="2514600" imgH="431800" progId="Equation.KSEE3">
                  <p:embed/>
                </p:oleObj>
              </mc:Choice>
              <mc:Fallback>
                <p:oleObj name="" r:id="rId12" imgW="25146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723381" y="4488498"/>
                        <a:ext cx="533971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36465" y="3923665"/>
            <a:ext cx="1343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r3</a:t>
            </a:r>
            <a:r>
              <a:rPr lang="zh-CN" altLang="en-US"/>
              <a:t>与</a:t>
            </a:r>
            <a:r>
              <a:rPr lang="en-US" altLang="zh-CN"/>
              <a:t>r1</a:t>
            </a:r>
            <a:r>
              <a:rPr lang="zh-CN" altLang="en-US"/>
              <a:t>等价</a:t>
            </a:r>
            <a:endParaRPr lang="zh-CN" altLang="en-US"/>
          </a:p>
          <a:p>
            <a:r>
              <a:rPr lang="en-US" altLang="zh-CN"/>
              <a:t>r2</a:t>
            </a:r>
            <a:r>
              <a:rPr lang="zh-CN" altLang="en-US"/>
              <a:t>与</a:t>
            </a:r>
            <a:r>
              <a:rPr lang="en-US" altLang="zh-CN"/>
              <a:t>rs</a:t>
            </a:r>
            <a:r>
              <a:rPr lang="zh-CN" altLang="en-US"/>
              <a:t>等价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5422900" y="2135505"/>
            <a:ext cx="3315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Mid-range:</a:t>
            </a:r>
            <a:endParaRPr lang="en-US" altLang="zh-CN" sz="2000"/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16675" y="2588895"/>
          <a:ext cx="276606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231265" imgH="508000" progId="Equation.KSEE3">
                  <p:embed/>
                </p:oleObj>
              </mc:Choice>
              <mc:Fallback>
                <p:oleObj name="" r:id="rId1" imgW="1231265" imgH="508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16675" y="2588895"/>
                        <a:ext cx="2766060" cy="114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422900" y="4135755"/>
            <a:ext cx="192405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000">
                <a:sym typeface="+mn-ea"/>
              </a:rPr>
              <a:t>high - frequency:</a:t>
            </a:r>
            <a:endParaRPr lang="en-US" altLang="zh-CN" sz="2000"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30011" y="5092700"/>
          <a:ext cx="282448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257300" imgH="508000" progId="Equation.KSEE3">
                  <p:embed/>
                </p:oleObj>
              </mc:Choice>
              <mc:Fallback>
                <p:oleObj name="" r:id="rId3" imgW="1257300" imgH="508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0011" y="5092700"/>
                        <a:ext cx="2824480" cy="1141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223135" y="3494405"/>
            <a:ext cx="10928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i="1"/>
              <a:t>r</a:t>
            </a:r>
            <a:r>
              <a:rPr lang="en-US" altLang="zh-CN" sz="4800" i="1" baseline="-25000"/>
              <a:t>3</a:t>
            </a:r>
            <a:endParaRPr lang="en-US" altLang="zh-CN" sz="4800" i="1" baseline="-25000"/>
          </a:p>
        </p:txBody>
      </p:sp>
      <p:sp>
        <p:nvSpPr>
          <p:cNvPr id="8" name="矩形 7"/>
          <p:cNvSpPr/>
          <p:nvPr/>
        </p:nvSpPr>
        <p:spPr>
          <a:xfrm>
            <a:off x="1992630" y="3321685"/>
            <a:ext cx="1610360" cy="1265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9500000">
            <a:off x="4255135" y="3288665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 rot="1320000">
            <a:off x="4321810" y="4038600"/>
            <a:ext cx="488315" cy="29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5"/>
            </p:custDataLst>
          </p:nvPr>
        </p:nvGraphicFramePr>
        <p:xfrm>
          <a:off x="979805" y="396875"/>
          <a:ext cx="6938010" cy="153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65"/>
                <a:gridCol w="2316480"/>
                <a:gridCol w="25901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Tube Effective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Mics on work</a:t>
                      </a:r>
                      <a:endParaRPr lang="en-US" altLang="zh-CN"/>
                    </a:p>
                  </a:txBody>
                  <a:tcPr/>
                </a:tc>
              </a:tr>
              <a:tr h="413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Mid-range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500Hz - 2500Hz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1; Mic 3; Mic 4</a:t>
                      </a:r>
                      <a:endParaRPr lang="en-US" altLang="zh-CN"/>
                    </a:p>
                  </a:txBody>
                  <a:tcPr/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High-frequency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2501Hz - 20kHz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 2; Mic 3; Mic 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55215" y="292798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5215" y="292798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53000" y="4580255"/>
          <a:ext cx="2598420" cy="143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876300" imgH="482600" progId="Equation.KSEE3">
                  <p:embed/>
                </p:oleObj>
              </mc:Choice>
              <mc:Fallback>
                <p:oleObj name="" r:id="rId3" imgW="876300" imgH="482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4580255"/>
                        <a:ext cx="2598420" cy="143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886960" y="4602480"/>
            <a:ext cx="2731135" cy="14090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 rot="2520000">
            <a:off x="4109085" y="3446780"/>
            <a:ext cx="737870" cy="402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7560000">
            <a:off x="7044690" y="3421380"/>
            <a:ext cx="737870" cy="402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3440" y="718185"/>
            <a:ext cx="2939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0070C0"/>
                </a:solidFill>
              </a:rPr>
              <a:t>Transmission Tube</a:t>
            </a:r>
            <a:endParaRPr lang="en-US" altLang="zh-CN" sz="2400" b="1" i="1">
              <a:solidFill>
                <a:srgbClr val="0070C0"/>
              </a:solidFill>
            </a:endParaRPr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3123" y="1386523"/>
          <a:ext cx="4395470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2070100" imgH="457200" progId="Equation.KSEE3">
                  <p:embed/>
                </p:oleObj>
              </mc:Choice>
              <mc:Fallback>
                <p:oleObj name="" r:id="rId5" imgW="2070100" imgH="457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3123" y="1386523"/>
                        <a:ext cx="4395470" cy="97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3441" y="2288223"/>
          <a:ext cx="533971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7" imgW="2514600" imgH="431800" progId="Equation.KSEE3">
                  <p:embed/>
                </p:oleObj>
              </mc:Choice>
              <mc:Fallback>
                <p:oleObj name="" r:id="rId7" imgW="25146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3441" y="2288223"/>
                        <a:ext cx="533971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03210" y="1723073"/>
          <a:ext cx="353250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9" imgW="1663700" imgH="431800" progId="Equation.KSEE3">
                  <p:embed/>
                </p:oleObj>
              </mc:Choice>
              <mc:Fallback>
                <p:oleObj name="" r:id="rId9" imgW="1663700" imgH="4318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03210" y="1723073"/>
                        <a:ext cx="353250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8020685" y="775970"/>
            <a:ext cx="2397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0070C0"/>
                </a:solidFill>
              </a:rPr>
              <a:t>Input Tube</a:t>
            </a:r>
            <a:endParaRPr lang="en-US" altLang="zh-CN" sz="2400" b="1" i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08300" y="2644775"/>
            <a:ext cx="65392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600">
                <a:solidFill>
                  <a:srgbClr val="0070C0"/>
                </a:solidFill>
              </a:rPr>
              <a:t>Q&amp;A</a:t>
            </a:r>
            <a:endParaRPr lang="en-US" altLang="zh-CN" sz="9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af1df314-d3a4-4d6d-8cbf-a8b467f81400}"/>
</p:tagLst>
</file>

<file path=ppt/tags/tag2.xml><?xml version="1.0" encoding="utf-8"?>
<p:tagLst xmlns:p="http://schemas.openxmlformats.org/presentationml/2006/main">
  <p:tag name="KSO_WM_UNIT_TABLE_BEAUTIFY" val="smartTable{e5981b3e-3d50-41fb-ae70-96e8f86307b4}"/>
</p:tagLst>
</file>

<file path=ppt/tags/tag3.xml><?xml version="1.0" encoding="utf-8"?>
<p:tagLst xmlns:p="http://schemas.openxmlformats.org/presentationml/2006/main">
  <p:tag name="KSO_WM_UNIT_TABLE_BEAUTIFY" val="smartTable{672c61a0-4d36-44d7-b9bc-c781d98cb115}"/>
  <p:tag name="TABLE_ENDDRAG_ORIGIN_RECT" val="487*120"/>
  <p:tag name="TABLE_ENDDRAG_RECT" val="36*160*487*120"/>
</p:tagLst>
</file>

<file path=ppt/tags/tag4.xml><?xml version="1.0" encoding="utf-8"?>
<p:tagLst xmlns:p="http://schemas.openxmlformats.org/presentationml/2006/main">
  <p:tag name="KSO_WM_UNIT_TABLE_BEAUTIFY" val="smartTable{63668cca-cb98-40c0-b603-f43bad37f426}"/>
  <p:tag name="TABLE_ENDDRAG_ORIGIN_RECT" val="546*121"/>
  <p:tag name="TABLE_ENDDRAG_RECT" val="24*10*546*121"/>
</p:tagLst>
</file>

<file path=ppt/tags/tag5.xml><?xml version="1.0" encoding="utf-8"?>
<p:tagLst xmlns:p="http://schemas.openxmlformats.org/presentationml/2006/main">
  <p:tag name="KSO_WM_UNIT_TABLE_BEAUTIFY" val="smartTable{63668cca-cb98-40c0-b603-f43bad37f426}"/>
  <p:tag name="TABLE_ENDDRAG_ORIGIN_RECT" val="546*121"/>
  <p:tag name="TABLE_ENDDRAG_RECT" val="24*10*546*121"/>
</p:tagLst>
</file>

<file path=ppt/tags/tag6.xml><?xml version="1.0" encoding="utf-8"?>
<p:tagLst xmlns:p="http://schemas.openxmlformats.org/presentationml/2006/main">
  <p:tag name="KSO_WM_UNIT_TABLE_BEAUTIFY" val="smartTable{483befca-fd29-4f3b-85dc-1e8b43aabe7e}"/>
</p:tagLst>
</file>

<file path=ppt/tags/tag7.xml><?xml version="1.0" encoding="utf-8"?>
<p:tagLst xmlns:p="http://schemas.openxmlformats.org/presentationml/2006/main">
  <p:tag name="KSO_WM_UNIT_TABLE_BEAUTIFY" val="smartTable{63668cca-cb98-40c0-b603-f43bad37f426}"/>
</p:tagLst>
</file>

<file path=ppt/tags/tag8.xml><?xml version="1.0" encoding="utf-8"?>
<p:tagLst xmlns:p="http://schemas.openxmlformats.org/presentationml/2006/main">
  <p:tag name="KSO_WM_UNIT_TABLE_BEAUTIFY" val="smartTable{672c61a0-4d36-44d7-b9bc-c781d98cb115}"/>
  <p:tag name="TABLE_ENDDRAG_ORIGIN_RECT" val="487*120"/>
  <p:tag name="TABLE_ENDDRAG_RECT" val="36*160*487*120"/>
</p:tagLst>
</file>

<file path=ppt/tags/tag9.xml><?xml version="1.0" encoding="utf-8"?>
<p:tagLst xmlns:p="http://schemas.openxmlformats.org/presentationml/2006/main">
  <p:tag name="KSO_WM_UNIT_TABLE_BEAUTIFY" val="smartTable{63668cca-cb98-40c0-b603-f43bad37f426}"/>
  <p:tag name="TABLE_ENDDRAG_ORIGIN_RECT" val="546*121"/>
  <p:tag name="TABLE_ENDDRAG_RECT" val="24*10*546*121"/>
</p:tagLst>
</file>

<file path=ppt/tags/tag10.xml><?xml version="1.0" encoding="utf-8"?>
<p:tagLst xmlns:p="http://schemas.openxmlformats.org/presentationml/2006/main">
  <p:tag name="KSO_WM_UNIT_TABLE_BEAUTIFY" val="smartTable{63668cca-cb98-40c0-b603-f43bad37f426}"/>
  <p:tag name="TABLE_ENDDRAG_ORIGIN_RECT" val="546*121"/>
  <p:tag name="TABLE_ENDDRAG_RECT" val="24*10*546*121"/>
</p:tagLst>
</file>

<file path=ppt/tags/tag11.xml><?xml version="1.0" encoding="utf-8"?>
<p:tagLst xmlns:p="http://schemas.openxmlformats.org/presentationml/2006/main">
  <p:tag name="KSO_WM_UNIT_TABLE_BEAUTIFY" val="smartTable{63668cca-cb98-40c0-b603-f43bad37f426}"/>
  <p:tag name="TABLE_ENDDRAG_ORIGIN_RECT" val="546*121"/>
  <p:tag name="TABLE_ENDDRAG_RECT" val="24*10*546*121"/>
</p:tagLst>
</file>

<file path=ppt/tags/tag12.xml><?xml version="1.0" encoding="utf-8"?>
<p:tagLst xmlns:p="http://schemas.openxmlformats.org/presentationml/2006/main">
  <p:tag name="commondata" val="eyJoZGlkIjoiZGFiYWMyZmE2ODc0YjEzYTk3YTAxNDc5NjllNTVhM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1992</Words>
  <Application>WPS 演示</Application>
  <PresentationFormat>宽屏</PresentationFormat>
  <Paragraphs>319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30</vt:i4>
      </vt:variant>
      <vt:variant>
        <vt:lpstr>幻灯片标题</vt:lpstr>
      </vt:variant>
      <vt:variant>
        <vt:i4>17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声学膜片阻抗测试系统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King Jin</cp:lastModifiedBy>
  <cp:revision>48</cp:revision>
  <dcterms:created xsi:type="dcterms:W3CDTF">2021-08-15T15:40:00Z</dcterms:created>
  <dcterms:modified xsi:type="dcterms:W3CDTF">2025-01-10T09:11:07Z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E4B23E8057A1476D89B1B9032462EDB4</vt:lpwstr>
  </property>
  <property fmtid="{D5CDD505-2E9C-101B-9397-08002B2CF9AE}" pid="3" name="KSOProductBuildVer">
    <vt:lpwstr>2052-12.1.0.19770</vt:lpwstr>
  </property>
</Properties>
</file>